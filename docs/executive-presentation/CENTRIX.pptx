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8"/>
  </p:notesMasterIdLst>
  <p:handoutMasterIdLst>
    <p:handoutMasterId r:id="rId9"/>
  </p:handoutMasterIdLst>
  <p:sldIdLst>
    <p:sldId id="256" r:id="rId7"/>
    <p:sldId id="257" r:id="rId6"/>
    <p:sldId id="258" r:id="rId5"/>
    <p:sldId id="259" r:id="rId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547"/>
    <a:srgbClr val="DCEAF7"/>
    <a:srgbClr val="FCFCFC"/>
    <a:srgbClr val="EFB39D"/>
    <a:srgbClr val="FF7E51"/>
    <a:srgbClr val="FEFEFE"/>
    <a:srgbClr val="DAED93"/>
    <a:srgbClr val="FFFFFF"/>
    <a:srgbClr val="FF7F51"/>
    <a:srgbClr val="E63A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822" autoAdjust="0"/>
  </p:normalViewPr>
  <p:slideViewPr>
    <p:cSldViewPr snapToGrid="0">
      <p:cViewPr varScale="1">
        <p:scale>
          <a:sx n="113" d="100"/>
          <a:sy n="113" d="100"/>
        </p:scale>
        <p:origin x="51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IT</c:v>
                </c:pt>
                <c:pt idx="1">
                  <c:v>Tax</c:v>
                </c:pt>
                <c:pt idx="2">
                  <c:v>Customs</c:v>
                </c:pt>
                <c:pt idx="3">
                  <c:v>Shared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0.42</c:v>
                </c:pt>
                <c:pt idx="1">
                  <c:v>0.22</c:v>
                </c:pt>
                <c:pt idx="2">
                  <c:v>0.18</c:v>
                </c:pt>
                <c:pt idx="3">
                  <c:v>0.18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62</c:v>
                </c:pt>
                <c:pt idx="2">
                  <c:v>78</c:v>
                </c:pt>
                <c:pt idx="3">
                  <c:v>98</c:v>
                </c:pt>
                <c:pt idx="4">
                  <c:v>128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tags" Target="../tags/tag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8BE919-BD82-B529-2A29-602FD3CB06A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779761-0F4F-F2E1-91BA-D8A8CD496BCD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F14EE6D-D89E-4C68-8022-388AEBD25B50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1/20/2026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4AD7A-0F58-D93B-20A7-38E81746F40C}"/>
              </a:ext>
            </a:extLst>
          </p:cNvPr>
          <p:cNvSpPr txBox="1"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0" y="8685208"/>
            <a:ext cx="68580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strike="noStrike" kern="1200" cap="none" spc="0" baseline="0">
                <a:solidFill>
                  <a:srgbClr val="AEC90B"/>
                </a:solidFill>
                <a:uFillTx/>
                <a:latin typeface="Segoe UI" pitchFamily="34"/>
              </a:rPr>
              <a:t>Public | </a:t>
            </a:r>
            <a:r>
              <a:rPr lang="ar-SA" sz="800" strike="noStrike" kern="1200" cap="none" spc="0" baseline="0">
                <a:solidFill>
                  <a:srgbClr val="AEC90B"/>
                </a:solidFill>
                <a:uFillTx/>
                <a:latin typeface="Segoe UI" pitchFamily="34"/>
              </a:rPr>
              <a:t>عام</a:t>
            </a:r>
            <a:endParaRPr lang="en-US" sz="800" strike="noStrike" kern="1200" cap="none" spc="0" baseline="0">
              <a:solidFill>
                <a:srgbClr val="AEC90B"/>
              </a:solidFill>
              <a:uFillTx/>
              <a:latin typeface="Segoe UI" pitchFamily="3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13E0D-978C-E5FC-ABA0-EEBDF754042B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EBCCF04-594E-40B2-8D18-9D7327106E16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8431573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tags" Target="../tags/tag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E0FDB1-D5E5-3E5E-F114-F1B36B97615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705F3-0718-F6CB-00E9-05E205B122E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03EA8563-EA2E-4A18-A8EB-8A5D9B80440E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D30D252-6A59-3E6C-2B42-9A604A4706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52DE178-0320-3A09-134A-AFE4EC370380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1EFDF-3115-B607-569E-72C0BDD21F5F}"/>
              </a:ext>
            </a:extLst>
          </p:cNvPr>
          <p:cNvSpPr txBox="1"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0" y="8685208"/>
            <a:ext cx="68580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800" b="0" i="0" u="none" strike="noStrike" kern="1200" cap="none" spc="0" baseline="0">
                <a:solidFill>
                  <a:srgbClr val="AEC90B"/>
                </a:solidFill>
                <a:uFillTx/>
                <a:latin typeface="Segoe UI" pitchFamily="34"/>
              </a:defRPr>
            </a:lvl1pPr>
          </a:lstStyle>
          <a:p>
            <a:r>
              <a:rPr lang="en-US"/>
              <a:t>Public | </a:t>
            </a:r>
            <a:r>
              <a:rPr lang="ar-SA"/>
              <a:t>عام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FF6D2-3B61-86EB-30BD-383B1EBB8C9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D1AAD173-3A0C-49A6-93E2-50D7E923D4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6069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as governance vision — not a product 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 → Opportunity → Outcome in under 90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core, eight governed domains — avoid UI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out three purposes that match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if an authoritative inventory can be produced in under one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sober — one real anecdote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Conceptual map only — not a click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KPIs. Replace dashboard placeholder with product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Translate each card to a business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3–4 personas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 security leaders without protocol deep-dives.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 a 90-day value baseline with Finance and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over-promise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after the vision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Restate the flow once, then open the live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sponsorship ask if not already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0734F-9310-9906-629F-07EF6FE0BF0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4C98DC-BF38-C48F-6471-521BD28F6F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8F9FC-6A2E-FBA9-F860-A7C48662CDC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363373-53FC-485F-A860-C8E4B90C7781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C5CFC-0A9D-0710-BF63-6A97BB7E2CA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8AD20-B634-7434-F732-7EC6AFC6D9B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59F44E2-F2FB-41CB-8A1A-06BC1C99E61B}" type="slidenum">
              <a:t>‹#›</a:t>
            </a:fld>
            <a:endParaRPr lang="en-US"/>
          </a:p>
        </p:txBody>
      </p:sp>
      <p:sp>
        <p:nvSpPr>
          <p:cNvPr id="7" name="fcSlideMaster.Title SlideFooter" descr="Public | عام">
            <a:extLst>
              <a:ext uri="{FF2B5EF4-FFF2-40B4-BE49-F238E27FC236}">
                <a16:creationId xmlns:a16="http://schemas.microsoft.com/office/drawing/2014/main" id="{ACB37E11-2467-78E3-8E98-C4CAF8A3B624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491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4574B-9009-259C-4E6E-B4913A4F01B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EC22C-DED5-EEE7-11BD-95B48F3E37B3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90B-B830-B343-83BB-BC0647FF482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40CC63-CECB-46B0-903E-C801B2429331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192C8-7A10-A28C-E262-A08999DE334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2BD3C-8D25-C774-A290-E0365A54F59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A4A3598-E534-4252-8DE6-8F1C063EA7ED}" type="slidenum">
              <a:t>‹#›</a:t>
            </a:fld>
            <a:endParaRPr lang="en-US"/>
          </a:p>
        </p:txBody>
      </p:sp>
      <p:sp>
        <p:nvSpPr>
          <p:cNvPr id="7" name="fcSlideMaster.Title and ContentFooter" descr="Public | عام">
            <a:extLst>
              <a:ext uri="{FF2B5EF4-FFF2-40B4-BE49-F238E27FC236}">
                <a16:creationId xmlns:a16="http://schemas.microsoft.com/office/drawing/2014/main" id="{C8BB5A6A-4DCE-43A2-D68B-9B7A73742FE0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659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5BB4-5978-6387-9967-36F5ED79AC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4531A-5A21-0C24-FED6-47E1E3A62A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1B150-8E2A-0920-8B12-DF5B44E180F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3EC85ED-67E4-40BB-9815-6FCB10AC8FC8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68D5E-B8CD-062A-6FB1-63D64337EE3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FACCC-9163-8028-561D-8F47B756ADD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217FF1-5C07-4FB8-8086-0996BC6A3882}" type="slidenum">
              <a:t>‹#›</a:t>
            </a:fld>
            <a:endParaRPr lang="en-US"/>
          </a:p>
        </p:txBody>
      </p:sp>
      <p:sp>
        <p:nvSpPr>
          <p:cNvPr id="7" name="fcSlideMaster.Section HeaderFooter" descr="Public | عام">
            <a:extLst>
              <a:ext uri="{FF2B5EF4-FFF2-40B4-BE49-F238E27FC236}">
                <a16:creationId xmlns:a16="http://schemas.microsoft.com/office/drawing/2014/main" id="{CAE33891-CD58-FB00-795B-347F90034EB9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21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B9FA0-E873-C575-9F36-49CBCE536D7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30138-3B8B-5F85-532C-7504AC5FBE4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0A68E-F63E-3DBD-D050-92C345A5899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5C32C-596D-79D0-CAEA-CB0438163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BA0960F-C397-4F30-A8D8-9A6685483F1F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97F9A-BFE2-D6B4-44B9-0DBA5C6431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36782-612B-FE79-517D-CB3511DB1E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7710FA-4B1F-4615-BE62-CB1D5923C536}" type="slidenum">
              <a:t>‹#›</a:t>
            </a:fld>
            <a:endParaRPr lang="en-US"/>
          </a:p>
        </p:txBody>
      </p:sp>
      <p:sp>
        <p:nvSpPr>
          <p:cNvPr id="8" name="fcSlideMaster.Two ContentFooter" descr="Public | عام">
            <a:extLst>
              <a:ext uri="{FF2B5EF4-FFF2-40B4-BE49-F238E27FC236}">
                <a16:creationId xmlns:a16="http://schemas.microsoft.com/office/drawing/2014/main" id="{84F0F7EE-D5DF-5979-63AC-3EE924AF5F70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224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21A7-855B-6347-A6D1-881544E8AE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EA1C4-D838-8A53-6985-3843FA6F5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33D3D-122F-AC64-98B9-AB086A39DF2D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7F4190-8551-4989-99E6-61B3907A401C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7F947-6039-883D-1B8A-995616D59F2C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25B0AC-7A1D-655E-9AF3-13A805DC473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731D093-53BE-41E5-ACC1-374360374FE0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F7213-701B-0B1F-A16D-8FBB6591546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BA921-EA17-839B-8F93-173844D924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E8D3168-1241-4218-9206-B1FB6C57468B}" type="slidenum">
              <a:t>‹#›</a:t>
            </a:fld>
            <a:endParaRPr lang="en-US"/>
          </a:p>
        </p:txBody>
      </p:sp>
      <p:sp>
        <p:nvSpPr>
          <p:cNvPr id="10" name="fcSlideMaster.ComparisonFooter" descr="Public | عام">
            <a:extLst>
              <a:ext uri="{FF2B5EF4-FFF2-40B4-BE49-F238E27FC236}">
                <a16:creationId xmlns:a16="http://schemas.microsoft.com/office/drawing/2014/main" id="{A6D9751C-3D4D-EBBF-0052-2368BAC30387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92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F9BB7-3562-E0BE-60F0-6F79C5C1BE2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746F0-120E-2383-D73F-E121C9CBA90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AF2B36-D16B-4729-A79E-31563B9CEB52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D6C6A-22FA-7D16-9778-78BD654D88E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95780-51E7-68C0-9D11-B4C26DA00B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DC18B24-DCB9-4EC6-8A16-2E90514DD557}" type="slidenum">
              <a:t>‹#›</a:t>
            </a:fld>
            <a:endParaRPr lang="en-US"/>
          </a:p>
        </p:txBody>
      </p:sp>
      <p:sp>
        <p:nvSpPr>
          <p:cNvPr id="6" name="fcSlideMaster.Title OnlyFooter" descr="Public | عام">
            <a:extLst>
              <a:ext uri="{FF2B5EF4-FFF2-40B4-BE49-F238E27FC236}">
                <a16:creationId xmlns:a16="http://schemas.microsoft.com/office/drawing/2014/main" id="{9C80E34E-E608-E6A5-9A73-7EDF7960FA34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826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CB4F7F-3621-3AC9-E6D8-723C4C173C5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BE3ABBC-7227-41D4-B0F1-758A7746F0B4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E1BFD-9F94-7583-0F69-5A209F10E567}"/>
              </a:ext>
            </a:extLst>
          </p:cNvPr>
          <p:cNvSpPr txBox="1">
            <a:spLocks noGrp="1"/>
          </p:cNvSpPr>
          <p:nvPr>
            <p:ph type="ftr" sz="quarter" idx="9"/>
            <p:custDataLst>
              <p:tags r:id="rId1"/>
            </p:custDataLst>
          </p:nvPr>
        </p:nvSpPr>
        <p:spPr/>
        <p:txBody>
          <a:bodyPr/>
          <a:lstStyle>
            <a:lvl1pPr>
              <a:defRPr b="0" i="0" u="none">
                <a:solidFill>
                  <a:srgbClr val="AEC90B"/>
                </a:solidFill>
              </a:defRPr>
            </a:lvl1pPr>
          </a:lstStyle>
          <a:p>
            <a:r>
              <a:rPr lang="en-US"/>
              <a:t>Public | </a:t>
            </a:r>
            <a:r>
              <a:rPr lang="ar-SA"/>
              <a:t>عام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7D729-F815-104B-C64E-C588AD3B756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61CCDB9-ACB6-4700-8CA0-CD1CD5D79831}" type="slidenum">
              <a:t>‹#›</a:t>
            </a:fld>
            <a:endParaRPr lang="en-US"/>
          </a:p>
        </p:txBody>
      </p:sp>
      <p:sp>
        <p:nvSpPr>
          <p:cNvPr id="5" name="fcSlideMaster.BlankFooter" descr="Public | عام">
            <a:extLst>
              <a:ext uri="{FF2B5EF4-FFF2-40B4-BE49-F238E27FC236}">
                <a16:creationId xmlns:a16="http://schemas.microsoft.com/office/drawing/2014/main" id="{455F4D63-ED29-E989-536B-3F85ADD03A89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77809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0F795-218B-B6F8-B2B6-E2E837E63E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32CC1-5FF6-878C-AEDA-CD69C799B05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06783-6D53-E6B3-875E-00D3303D73E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C24E9-89BA-5F57-FC52-55D88FED04A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9C45D98-161E-452F-A128-1B0D82B411C9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94B06-B11D-0BBD-FD4D-B9CE3242AFC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CAC84-33F7-C1DE-3CB1-8D60DCA5E1E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D213440-C755-44AD-BD89-7952778CA49D}" type="slidenum">
              <a:t>‹#›</a:t>
            </a:fld>
            <a:endParaRPr lang="en-US"/>
          </a:p>
        </p:txBody>
      </p:sp>
      <p:sp>
        <p:nvSpPr>
          <p:cNvPr id="8" name="fcSlideMaster.Content with CaptionFooter" descr="Public | عام">
            <a:extLst>
              <a:ext uri="{FF2B5EF4-FFF2-40B4-BE49-F238E27FC236}">
                <a16:creationId xmlns:a16="http://schemas.microsoft.com/office/drawing/2014/main" id="{351EFB57-F167-1A13-49DC-F0BA0C3F0B00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34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47C7B-86FF-9EF6-2CB1-A33D308DBE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474D6-5721-1365-9AD1-BDEAA06642EE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883D2-9035-314A-0E33-A58CC638BEB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4634A-C44F-D03B-1A0F-7EF1B34EE19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D2BC40-18D4-4422-ABB6-0ABDDE63B887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F27A5-E6D3-C320-68F1-061127007FC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175EF-20F3-7149-462C-C7B79E7BB18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28C91E9-FCB8-4B16-B61A-E5B2C0915A6A}" type="slidenum">
              <a:t>‹#›</a:t>
            </a:fld>
            <a:endParaRPr lang="en-US"/>
          </a:p>
        </p:txBody>
      </p:sp>
      <p:sp>
        <p:nvSpPr>
          <p:cNvPr id="8" name="fcSlideMaster.Picture with CaptionFooter" descr="Public | عام">
            <a:extLst>
              <a:ext uri="{FF2B5EF4-FFF2-40B4-BE49-F238E27FC236}">
                <a16:creationId xmlns:a16="http://schemas.microsoft.com/office/drawing/2014/main" id="{F7982A1A-2B21-75FB-582F-D9A084EFE6BB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989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F2C5-C950-2A2B-65B5-577425EA95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03F09-2850-606A-69CB-3A22605A7A3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0710-254F-737D-8D01-153653281F6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BD35BBA-E18D-4B20-9CAE-B4357392C20F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9E1A9-6EE0-A58C-DCFE-85A5D9E643B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982C3-43B4-F15D-1C85-E8FE5151728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4B5CC07-FCEB-4CCC-A308-2C162D5A554E}" type="slidenum">
              <a:t>‹#›</a:t>
            </a:fld>
            <a:endParaRPr lang="en-US"/>
          </a:p>
        </p:txBody>
      </p:sp>
      <p:sp>
        <p:nvSpPr>
          <p:cNvPr id="7" name="fcSlideMaster.Title and Vertical TextFooter" descr="Public | عام">
            <a:extLst>
              <a:ext uri="{FF2B5EF4-FFF2-40B4-BE49-F238E27FC236}">
                <a16:creationId xmlns:a16="http://schemas.microsoft.com/office/drawing/2014/main" id="{589BB17E-9519-C369-C322-9225FA9E3943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553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0937A-8F9A-6D0F-7D67-C74A10E76C29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ED2555-00F2-0813-468F-BFB41823D2B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3E69A-B698-C725-A29C-209757C18D8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693A77-2D54-4E99-BA32-D8135947A96E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4D65B-0A60-CD08-132E-0A0D20251F2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7854A-3500-29D3-67C0-A68B8DE4658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A6310A8-E7DA-4744-A3C2-3BB96AB44CAD}" type="slidenum">
              <a:t>‹#›</a:t>
            </a:fld>
            <a:endParaRPr lang="en-US"/>
          </a:p>
        </p:txBody>
      </p:sp>
      <p:sp>
        <p:nvSpPr>
          <p:cNvPr id="7" name="fcSlideMaster.Vertical Title and TextFooter" descr="Public | عام">
            <a:extLst>
              <a:ext uri="{FF2B5EF4-FFF2-40B4-BE49-F238E27FC236}">
                <a16:creationId xmlns:a16="http://schemas.microsoft.com/office/drawing/2014/main" id="{CFE8EB39-4FD2-A0E4-25DB-36B33570A23D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610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0 A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D080D2F6-BA26-CD17-54B0-8817C0A3A0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10">
            <a:extLst>
              <a:ext uri="{FF2B5EF4-FFF2-40B4-BE49-F238E27FC236}">
                <a16:creationId xmlns:a16="http://schemas.microsoft.com/office/drawing/2014/main" id="{689DDA44-8C90-E523-12BE-3B3FCCE8636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185867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Graphic 11">
            <a:extLst>
              <a:ext uri="{FF2B5EF4-FFF2-40B4-BE49-F238E27FC236}">
                <a16:creationId xmlns:a16="http://schemas.microsoft.com/office/drawing/2014/main" id="{F716F226-A417-3DA7-FF12-ADC0690B00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373879" y="5619719"/>
            <a:ext cx="1407298" cy="8704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ABC378CB-E01D-092D-07B7-04A932AD80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8765" y="368302"/>
            <a:ext cx="2642396" cy="5780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fcSlideMaster.Cover 20 ARAFooter" descr="Public | عام">
            <a:extLst>
              <a:ext uri="{FF2B5EF4-FFF2-40B4-BE49-F238E27FC236}">
                <a16:creationId xmlns:a16="http://schemas.microsoft.com/office/drawing/2014/main" id="{133F97A8-81C3-E4E7-6798-C9389D687A15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10686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y ARA B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910A9E4-7235-1582-C701-3D28EDB12F17}"/>
              </a:ext>
            </a:extLst>
          </p:cNvPr>
          <p:cNvSpPr/>
          <p:nvPr/>
        </p:nvSpPr>
        <p:spPr>
          <a:xfrm>
            <a:off x="-603" y="0"/>
            <a:ext cx="12193203" cy="6858000"/>
          </a:xfrm>
          <a:prstGeom prst="rect">
            <a:avLst/>
          </a:prstGeom>
          <a:gradFill>
            <a:gsLst>
              <a:gs pos="0">
                <a:srgbClr val="F2F2F2"/>
              </a:gs>
              <a:gs pos="100000">
                <a:srgbClr val="FFFFFF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SA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90B31314-E1D7-6B44-8129-DB87D7C064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3254404"/>
            <a:ext cx="4196282" cy="360359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E0B94E25-39DB-67E4-5BD7-4972CA357F13}"/>
              </a:ext>
            </a:extLst>
          </p:cNvPr>
          <p:cNvSpPr txBox="1"/>
          <p:nvPr/>
        </p:nvSpPr>
        <p:spPr>
          <a:xfrm>
            <a:off x="371475" y="6410328"/>
            <a:ext cx="145874" cy="15388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31F31BA-D121-45DB-8756-98FF69939118}" type="slidenum">
              <a:t>‹#›</a:t>
            </a:fld>
            <a:endParaRPr lang="en-US" sz="1200" b="0" i="0" u="none" strike="noStrike" kern="1200" cap="none" spc="0" baseline="0">
              <a:solidFill>
                <a:srgbClr val="0E2547"/>
              </a:solidFill>
              <a:uFillTx/>
              <a:latin typeface="Somar" pitchFamily="2"/>
              <a:cs typeface="Somar" pitchFamily="2"/>
            </a:endParaRPr>
          </a:p>
        </p:txBody>
      </p:sp>
      <p:pic>
        <p:nvPicPr>
          <p:cNvPr id="5" name="Graphic 5">
            <a:extLst>
              <a:ext uri="{FF2B5EF4-FFF2-40B4-BE49-F238E27FC236}">
                <a16:creationId xmlns:a16="http://schemas.microsoft.com/office/drawing/2014/main" id="{A5204B0C-A526-86C0-C969-6B3C1A4285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1475" y="368494"/>
            <a:ext cx="477682" cy="56840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521DAD8-8364-703A-94B0-6ABBC4E5906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883225" y="428277"/>
            <a:ext cx="9967654" cy="448842"/>
          </a:xfrm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lang="ar-SA" kern="0">
                <a:solidFill>
                  <a:srgbClr val="102C57"/>
                </a:solidFill>
                <a:latin typeface="Somar Medium" pitchFamily="2"/>
                <a:ea typeface="Somar Bold"/>
                <a:cs typeface="Somar Medium" pitchFamily="2"/>
              </a:defRPr>
            </a:lvl1pPr>
          </a:lstStyle>
          <a:p>
            <a:pPr lvl="0"/>
            <a:r>
              <a:rPr lang="ar-SA"/>
              <a:t>انقر لإضافة النص هنا</a:t>
            </a:r>
            <a:endParaRPr lang="en-US"/>
          </a:p>
        </p:txBody>
      </p:sp>
      <p:sp>
        <p:nvSpPr>
          <p:cNvPr id="7" name="fcSlideMaster.Grey ARA BGFooter" descr="Public | عام">
            <a:extLst>
              <a:ext uri="{FF2B5EF4-FFF2-40B4-BE49-F238E27FC236}">
                <a16:creationId xmlns:a16="http://schemas.microsoft.com/office/drawing/2014/main" id="{A50F2536-6EE7-4D0B-CB12-4AB4846F4A0B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91420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ARA B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C7D5172B-27B1-6EB6-9457-153669FF8E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3254404"/>
            <a:ext cx="4196282" cy="360359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D3F798B8-A1B0-F3A5-31A7-0DE2625D5E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1475" y="368494"/>
            <a:ext cx="477682" cy="56840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863EC833-F3BF-2F5C-4D19-7E57BDA35C9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883225" y="428277"/>
            <a:ext cx="9967654" cy="448842"/>
          </a:xfrm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lang="ar-SA" kern="0">
                <a:solidFill>
                  <a:srgbClr val="102C57"/>
                </a:solidFill>
                <a:latin typeface="Somar Medium" pitchFamily="2"/>
                <a:ea typeface="Somar Bold"/>
                <a:cs typeface="Somar Medium" pitchFamily="2"/>
              </a:defRPr>
            </a:lvl1pPr>
          </a:lstStyle>
          <a:p>
            <a:pPr lvl="0"/>
            <a:r>
              <a:rPr lang="ar-SA"/>
              <a:t>انقر لإضافة النص هنا</a:t>
            </a:r>
            <a:endParaRPr lang="en-US"/>
          </a:p>
        </p:txBody>
      </p:sp>
      <p:sp>
        <p:nvSpPr>
          <p:cNvPr id="5" name="fcSlideMaster.White ARA BGFooter" descr="Public | عام">
            <a:extLst>
              <a:ext uri="{FF2B5EF4-FFF2-40B4-BE49-F238E27FC236}">
                <a16:creationId xmlns:a16="http://schemas.microsoft.com/office/drawing/2014/main" id="{0B94EF71-755E-5C20-946B-3ADD5D62EA95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3760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B84A45-07E3-B9FF-7765-07D6DB6E4F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-1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74F14C-6F22-C928-8D07-2CFB9823F7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EDBD2D-72CB-A8B4-C846-9AC01FB8BE9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15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88B4D7-C93E-BB3C-B6CF-C90F1258A72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0" y="3258000"/>
            <a:ext cx="4196281" cy="3603600"/>
          </a:xfrm>
          <a:prstGeom prst="rect">
            <a:avLst/>
          </a:prstGeom>
        </p:spPr>
      </p:pic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A9E164E1-63F7-208C-177D-C3E2A64F37D3}"/>
              </a:ext>
            </a:extLst>
          </p:cNvPr>
          <p:cNvSpPr/>
          <p:nvPr userDrawn="1"/>
        </p:nvSpPr>
        <p:spPr>
          <a:xfrm>
            <a:off x="2635743" y="2904735"/>
            <a:ext cx="7826959" cy="1372091"/>
          </a:xfrm>
          <a:prstGeom prst="round1Rect">
            <a:avLst/>
          </a:prstGeom>
          <a:gradFill>
            <a:gsLst>
              <a:gs pos="0">
                <a:srgbClr val="34A0A4">
                  <a:alpha val="0"/>
                </a:srgbClr>
              </a:gs>
              <a:gs pos="100000">
                <a:srgbClr val="34A0A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24AB789-D394-BF72-7BD7-0545D5526642}"/>
              </a:ext>
            </a:extLst>
          </p:cNvPr>
          <p:cNvSpPr/>
          <p:nvPr userDrawn="1"/>
        </p:nvSpPr>
        <p:spPr>
          <a:xfrm>
            <a:off x="4478386" y="4213003"/>
            <a:ext cx="5984316" cy="63823"/>
          </a:xfrm>
          <a:custGeom>
            <a:avLst/>
            <a:gdLst>
              <a:gd name="connsiteX0" fmla="*/ 4404271 w 4932844"/>
              <a:gd name="connsiteY0" fmla="*/ 0 h 52609"/>
              <a:gd name="connsiteX1" fmla="*/ 4351528 w 4932844"/>
              <a:gd name="connsiteY1" fmla="*/ 38003 h 52609"/>
              <a:gd name="connsiteX2" fmla="*/ 0 w 4932844"/>
              <a:gd name="connsiteY2" fmla="*/ 38003 h 52609"/>
              <a:gd name="connsiteX3" fmla="*/ 0 w 4932844"/>
              <a:gd name="connsiteY3" fmla="*/ 52609 h 52609"/>
              <a:gd name="connsiteX4" fmla="*/ 4932844 w 4932844"/>
              <a:gd name="connsiteY4" fmla="*/ 52609 h 52609"/>
              <a:gd name="connsiteX5" fmla="*/ 4932844 w 4932844"/>
              <a:gd name="connsiteY5" fmla="*/ 0 h 52609"/>
              <a:gd name="connsiteX6" fmla="*/ 4404271 w 4932844"/>
              <a:gd name="connsiteY6" fmla="*/ 0 h 52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32844" h="52609">
                <a:moveTo>
                  <a:pt x="4404271" y="0"/>
                </a:moveTo>
                <a:lnTo>
                  <a:pt x="4351528" y="38003"/>
                </a:lnTo>
                <a:lnTo>
                  <a:pt x="0" y="38003"/>
                </a:lnTo>
                <a:lnTo>
                  <a:pt x="0" y="52609"/>
                </a:lnTo>
                <a:lnTo>
                  <a:pt x="4932844" y="52609"/>
                </a:lnTo>
                <a:lnTo>
                  <a:pt x="4932844" y="0"/>
                </a:lnTo>
                <a:lnTo>
                  <a:pt x="4404271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50000">
                <a:schemeClr val="bg1"/>
              </a:gs>
              <a:gs pos="100000">
                <a:schemeClr val="bg1"/>
              </a:gs>
            </a:gsLst>
            <a:lin ang="0" scaled="1"/>
          </a:gradFill>
          <a:ln w="6316" cap="flat">
            <a:noFill/>
            <a:prstDash val="solid"/>
            <a:miter/>
          </a:ln>
        </p:spPr>
        <p:txBody>
          <a:bodyPr rtlCol="0" anchor="ctr"/>
          <a:lstStyle/>
          <a:p>
            <a:endParaRPr lang="en-SA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A6BC0DA8-5089-8FCD-E4D0-5C2642DCFB04}"/>
              </a:ext>
            </a:extLst>
          </p:cNvPr>
          <p:cNvSpPr txBox="1"/>
          <p:nvPr userDrawn="1"/>
        </p:nvSpPr>
        <p:spPr>
          <a:xfrm>
            <a:off x="371475" y="6410325"/>
            <a:ext cx="14587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fld id="{3A8E9D07-11A8-0B47-B9A7-9A8D08C5640F}" type="slidenum">
              <a:rPr lang="en-SA" sz="1000" smtClean="0">
                <a:solidFill>
                  <a:schemeClr val="bg1">
                    <a:lumMod val="85000"/>
                  </a:schemeClr>
                </a:solidFill>
                <a:latin typeface="Somar" pitchFamily="2" charset="-78"/>
                <a:cs typeface="Somar" pitchFamily="2" charset="-78"/>
              </a:rPr>
              <a:t>‹#›</a:t>
            </a:fld>
            <a:endParaRPr lang="en-SA" sz="1200" dirty="0">
              <a:solidFill>
                <a:schemeClr val="bg1">
                  <a:lumMod val="85000"/>
                </a:schemeClr>
              </a:solidFill>
              <a:latin typeface="Somar" pitchFamily="2" charset="-78"/>
              <a:cs typeface="Somar" pitchFamily="2" charset="-78"/>
            </a:endParaRPr>
          </a:p>
        </p:txBody>
      </p:sp>
      <p:pic>
        <p:nvPicPr>
          <p:cNvPr id="9" name="Graphic 5">
            <a:extLst>
              <a:ext uri="{FF2B5EF4-FFF2-40B4-BE49-F238E27FC236}">
                <a16:creationId xmlns:a16="http://schemas.microsoft.com/office/drawing/2014/main" id="{3F19223C-6465-723F-A8D3-74E8C70B7B5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71475" y="368494"/>
            <a:ext cx="477687" cy="568412"/>
          </a:xfrm>
          <a:prstGeom prst="rect">
            <a:avLst/>
          </a:prstGeom>
        </p:spPr>
      </p:pic>
      <p:sp>
        <p:nvSpPr>
          <p:cNvPr id="10" name="fcSlideMaster.1_Divider 3Footer" descr="Public | عام">
            <a:extLst>
              <a:ext uri="{FF2B5EF4-FFF2-40B4-BE49-F238E27FC236}">
                <a16:creationId xmlns:a16="http://schemas.microsoft.com/office/drawing/2014/main" id="{6267C6EE-3FB2-4296-151A-B8BFA21041A9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139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69B7C9-00D0-0B5C-6ABD-15ABAC06B4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858C2-213D-8526-D6AA-E316C85E6F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6A6AA-C725-6373-3A6A-286B75F38777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CC13BF0B-0B68-4B94-83A7-6C527D2B1CB2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BD2C6-3E81-6F29-3A6E-CD5D09CB8559}"/>
              </a:ext>
            </a:extLst>
          </p:cNvPr>
          <p:cNvSpPr txBox="1"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0" y="6356351"/>
            <a:ext cx="121920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800" b="0" i="0" u="none" strike="noStrike" kern="1200" cap="none" spc="0" baseline="0">
                <a:solidFill>
                  <a:srgbClr val="AEC90B"/>
                </a:solidFill>
                <a:uFillTx/>
                <a:latin typeface="Segoe UI" pitchFamily="34"/>
              </a:defRPr>
            </a:lvl1pPr>
          </a:lstStyle>
          <a:p>
            <a:r>
              <a:rPr lang="en-US"/>
              <a:t>Public | </a:t>
            </a:r>
            <a:r>
              <a:rPr lang="ar-SA"/>
              <a:t>عام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F62D5-6850-47C8-17D0-65FCEB2BD0D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2110A7CF-1002-4021-AB19-4341629D972C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0" y="196596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ENTERPRISE IT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2286000"/>
            <a:ext cx="219456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0" y="246888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 Display"/>
              </a:rPr>
              <a:t>CENTRIX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329184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9ED5"/>
                </a:solidFill>
                <a:latin typeface="Aptos"/>
              </a:rPr>
              <a:t>Enterprise IT Portfolio &amp; Access Governance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977639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5D0DA"/>
                </a:solidFill>
                <a:latin typeface="Aptos"/>
              </a:rPr>
              <a:t>Transforming IT Governance Through
Centralization, Automation and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50292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ABA"/>
                </a:solidFill>
                <a:latin typeface="Aptos"/>
              </a:rPr>
              <a:t>Executive Briefing  ·  Senior Management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One platform. One truth. Better control.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33375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3337560" cy="7315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057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97132"/>
                </a:solidFill>
                <a:latin typeface="Aptos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2841"/>
                </a:solidFill>
                <a:latin typeface="Aptos Display"/>
              </a:rPr>
              <a:t>Current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Spreadsheets · unknown ownership
Manual licenses · weak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91640"/>
            <a:ext cx="33375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691640"/>
            <a:ext cx="3337560" cy="73152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057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9ED5"/>
                </a:solidFill>
                <a:latin typeface="Aptos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6517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2841"/>
                </a:solidFill>
                <a:latin typeface="Aptos Display"/>
              </a:rPr>
              <a:t>Business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Centralize portfolio, licenses,
identity and executive visibility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33375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3337560" cy="73152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057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96B24"/>
                </a:solidFill>
                <a:latin typeface="Aptos Display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517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2841"/>
                </a:solidFill>
                <a:latin typeface="Aptos Display"/>
              </a:rPr>
              <a:t>Expected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Lower risk · lower waste
Faster audits · clearer decisions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What is CENTRIX?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A centralized enterprise platform for the IT application portfolio.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306324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 w="127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CENTRIX
Governance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73736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2841"/>
                </a:solidFill>
                <a:latin typeface="Aptos"/>
              </a:rPr>
              <a:t>Applications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73736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2841"/>
                </a:solidFill>
                <a:latin typeface="Aptos"/>
              </a:rPr>
              <a:t>Licenses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73736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2841"/>
                </a:solidFill>
                <a:latin typeface="Aptos"/>
              </a:rPr>
              <a:t>Vendors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73736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2841"/>
                </a:solidFill>
                <a:latin typeface="Aptos"/>
              </a:rPr>
              <a:t>Departments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75488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2841"/>
                </a:solidFill>
                <a:latin typeface="Aptos"/>
              </a:rPr>
              <a:t>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75488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2841"/>
                </a:solidFill>
                <a:latin typeface="Aptos"/>
              </a:rPr>
              <a:t>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75488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2841"/>
                </a:solidFill>
                <a:latin typeface="Aptos"/>
              </a:rPr>
              <a:t>Reporting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475488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2841"/>
                </a:solidFill>
                <a:latin typeface="Aptos"/>
              </a:rPr>
              <a:t>Governance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Why CENTRIX exists - governance outcomes, not features.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45920"/>
            <a:ext cx="73152" cy="123444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9ED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Single Source of Truth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4592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645920"/>
            <a:ext cx="73152" cy="1234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8288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60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240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Application Governance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73152" cy="1234440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0A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40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License Governance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06324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3063240"/>
            <a:ext cx="73152" cy="123444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2461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9ED5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576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Access Governance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06324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3063240"/>
            <a:ext cx="73152" cy="123444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2461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6B24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6576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Executive Visibility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06324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063240"/>
            <a:ext cx="73152" cy="1234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2461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6082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6576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Operational Excellence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48056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0" y="4480560"/>
            <a:ext cx="73152" cy="123444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663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7132"/>
                </a:solidFill>
                <a:latin typeface="Apto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074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Risk Reduction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448056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17720" y="4480560"/>
            <a:ext cx="73152" cy="123444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4663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7132"/>
                </a:solidFill>
                <a:latin typeface="Aptos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5074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Cost Optimization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48056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4480560"/>
            <a:ext cx="73152" cy="1234440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663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02B93"/>
                </a:solidFill>
                <a:latin typeface="Aptos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074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Compliance Assurance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Current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Fragmentation creates avoidable operational and compliance risk.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2514600" cy="7315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39" y="20116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97132"/>
                </a:solidFill>
                <a:latin typeface="Aptos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Aptos"/>
              </a:rPr>
              <a:t>Disconnected spreadsheets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691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9039" y="1691640"/>
            <a:ext cx="2514600" cy="7315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0116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6082"/>
                </a:solidFill>
                <a:latin typeface="Aptos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79" y="256032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Aptos"/>
              </a:rPr>
              <a:t>Unknown ownership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2514600" cy="73152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0116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9ED5"/>
                </a:solidFill>
                <a:latin typeface="Aptos Displa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Aptos"/>
              </a:rPr>
              <a:t>Manual license tracking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691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59" y="1691640"/>
            <a:ext cx="2514600" cy="73152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20116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2B93"/>
                </a:solidFill>
                <a:latin typeface="Aptos Display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256032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Aptos"/>
              </a:rPr>
              <a:t>No centralized inventory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794760"/>
            <a:ext cx="16916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794760"/>
            <a:ext cx="1691640" cy="7315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41148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97132"/>
                </a:solidFill>
                <a:latin typeface="Aptos Display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6634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Aptos"/>
              </a:rPr>
              <a:t>Limited visibility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794760"/>
            <a:ext cx="16916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794760"/>
            <a:ext cx="1691640" cy="7315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1148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6082"/>
                </a:solidFill>
                <a:latin typeface="Aptos Display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6634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Aptos"/>
              </a:rPr>
              <a:t>Security risks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3794760"/>
            <a:ext cx="16916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3794760"/>
            <a:ext cx="1691640" cy="73152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41148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96B24"/>
                </a:solidFill>
                <a:latin typeface="Aptos Display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46634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Aptos"/>
              </a:rPr>
              <a:t>Compliance gaps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8359" y="3794760"/>
            <a:ext cx="16916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38359" y="3794760"/>
            <a:ext cx="1691640" cy="73152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19" y="41148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A0A4"/>
                </a:solidFill>
                <a:latin typeface="Aptos Display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799" y="46634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Aptos"/>
              </a:rPr>
              <a:t>Duplicate systems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Fragmentation is a risk, cost, and decision-quality problem.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196596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1965960" cy="7315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7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2841"/>
                </a:solidFill>
                <a:latin typeface="Aptos Display"/>
              </a:rPr>
              <a:t>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292608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B7A"/>
                </a:solidFill>
                <a:latin typeface="Aptos"/>
              </a:rPr>
              <a:t>Fire drills
Rework
Knowledge 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691640"/>
            <a:ext cx="196596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691640"/>
            <a:ext cx="1965960" cy="7315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2841"/>
                </a:solidFill>
                <a:latin typeface="Aptos Display"/>
              </a:rPr>
              <a:t>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92608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B7A"/>
                </a:solidFill>
                <a:latin typeface="Aptos"/>
              </a:rPr>
              <a:t>Access drift
Unclear rights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691640"/>
            <a:ext cx="196596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1691640"/>
            <a:ext cx="1965960" cy="73152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2841"/>
                </a:solidFill>
                <a:latin typeface="Aptos Display"/>
              </a:rPr>
              <a:t>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92608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B7A"/>
                </a:solidFill>
                <a:latin typeface="Aptos"/>
              </a:rPr>
              <a:t>Weak evidence
Slow audits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691640"/>
            <a:ext cx="196596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1691640"/>
            <a:ext cx="1965960" cy="7315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7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2841"/>
                </a:solidFill>
                <a:latin typeface="Aptos Display"/>
              </a:rP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7" y="292608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B7A"/>
                </a:solidFill>
                <a:latin typeface="Aptos"/>
              </a:rPr>
              <a:t>Shelfware
Late renewals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59" y="1691640"/>
            <a:ext cx="196596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59" y="1691640"/>
            <a:ext cx="1965960" cy="73152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9487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2841"/>
                </a:solidFill>
                <a:latin typeface="Aptos Display"/>
              </a:rPr>
              <a:t>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7" y="292608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B7A"/>
                </a:solidFill>
                <a:latin typeface="Aptos"/>
              </a:rPr>
              <a:t>Conflicting data
Delayed choices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Portal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One governed journey: inventory → control → assurance → insight.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0A4"/>
                </a:solidFill>
                <a:latin typeface="Aptos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423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9ED5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691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0116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0A4"/>
                </a:solidFill>
                <a:latin typeface="Aptos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514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Licenses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423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9ED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0A4"/>
                </a:solidFill>
                <a:latin typeface="Aptos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Departments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423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9ED5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691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39" y="20116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0A4"/>
                </a:solidFill>
                <a:latin typeface="Aptos Display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39" y="2514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Users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49039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06907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0A4"/>
                </a:solidFill>
                <a:latin typeface="Aptos Display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5720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48055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9ED5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39" y="3749039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406907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0A4"/>
                </a:solidFill>
                <a:latin typeface="Aptos Display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5720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Identity Providers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448055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9ED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749039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06907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0A4"/>
                </a:solidFill>
                <a:latin typeface="Aptos Display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5720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Audit Logs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48055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9ED5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59" y="3749039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39" y="406907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0A4"/>
                </a:solidFill>
                <a:latin typeface="Aptos Display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39" y="45720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Reports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Executive visibility without assembling a leadership pack.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00200"/>
            <a:ext cx="14173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00200"/>
            <a:ext cx="1417320" cy="73152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2841"/>
                </a:solidFill>
                <a:latin typeface="Aptos Display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B7A"/>
                </a:solidFill>
                <a:latin typeface="Aptos"/>
              </a:rPr>
              <a:t>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39" y="1600200"/>
            <a:ext cx="14173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39" y="1600200"/>
            <a:ext cx="1417320" cy="73152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1737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2841"/>
                </a:solidFill>
                <a:latin typeface="Aptos Display"/>
              </a:rPr>
              <a:t>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1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B7A"/>
                </a:solidFill>
                <a:latin typeface="Aptos"/>
              </a:rPr>
              <a:t>Licenses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600200"/>
            <a:ext cx="14173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600200"/>
            <a:ext cx="1417320" cy="7315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737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2841"/>
                </a:solidFill>
                <a:latin typeface="Aptos Display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B7A"/>
                </a:solidFill>
                <a:latin typeface="Aptos"/>
              </a:rPr>
              <a:t>Vendors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59" y="1600200"/>
            <a:ext cx="14173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59" y="1600200"/>
            <a:ext cx="1417320" cy="73152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4999" y="1737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2841"/>
                </a:solidFill>
                <a:latin typeface="Aptos Display"/>
              </a:rP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6712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B7A"/>
                </a:solidFill>
                <a:latin typeface="Aptos"/>
              </a:rPr>
              <a:t>Departments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1600200"/>
            <a:ext cx="14173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0" y="1600200"/>
            <a:ext cx="1417320" cy="7315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1737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2841"/>
                </a:solidFill>
                <a:latin typeface="Aptos Display"/>
              </a:rPr>
              <a:t>860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B7A"/>
                </a:solidFill>
                <a:latin typeface="Aptos"/>
              </a:rPr>
              <a:t>Users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1600200"/>
            <a:ext cx="14173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41080" y="1600200"/>
            <a:ext cx="1417320" cy="73152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19" y="1737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2841"/>
                </a:solidFill>
                <a:latin typeface="Aptos Display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4232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B7A"/>
                </a:solidFill>
                <a:latin typeface="Aptos"/>
              </a:rPr>
              <a:t>SSO / IdP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39" y="1600200"/>
            <a:ext cx="14173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49839" y="1600200"/>
            <a:ext cx="1417320" cy="7315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79" y="1737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2841"/>
                </a:solidFill>
                <a:latin typeface="Aptos Display"/>
              </a:rPr>
              <a:t>4.2k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1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B7A"/>
                </a:solidFill>
                <a:latin typeface="Aptos"/>
              </a:rPr>
              <a:t>Audit Events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2788920"/>
            <a:ext cx="7040880" cy="30632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6082"/>
                </a:solidFill>
                <a:latin typeface="Aptos"/>
              </a:rPr>
              <a:t>[ Dashboard Screenshot ]
16:9 — replace later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Core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Each module delivers a business governance outcome.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45920"/>
            <a:ext cx="73152" cy="118872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Digital asset inventory &amp; ownership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459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645920"/>
            <a:ext cx="73152" cy="1188720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8288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Licenses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2402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Entitlement, usage &amp; renewals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73152" cy="1188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Vendors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402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Third-party criticality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0175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3017520"/>
            <a:ext cx="73152" cy="118872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2004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Departments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11879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Organizational accountability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0175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3017520"/>
            <a:ext cx="73152" cy="118872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2004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611879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Workforce &amp; contractor identity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0175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017520"/>
            <a:ext cx="73152" cy="1188720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2004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Roles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611879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Access governance &amp; least privilege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3891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0" y="4389120"/>
            <a:ext cx="73152" cy="118872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572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Identity Providers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9834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Enterprise authentication / SSO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43891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17720" y="4389120"/>
            <a:ext cx="73152" cy="1188720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4572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Reports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49834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Executive decision support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3891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4389120"/>
            <a:ext cx="73152" cy="1188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572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Audit Logs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9834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Compliance evidence trail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Who Can Benefit?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CENTRIX serves the full IT value chain — ops to the 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0020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7" y="1709928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205740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undocumented deps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242316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estate clarity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60020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58768" y="1709928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Service 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05740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ownership unknown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42316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faster 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0020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709928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Cybersecurity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05740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access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42316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least privilege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60020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2287" y="1709928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IT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7" y="205740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manual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7" y="242316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one inventory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01752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7" y="3127248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IT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7" y="34747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slow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384048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live KPIs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301752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58768" y="3127248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Enterprise Arch.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34747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duplicate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384048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portfolio 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01752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3127248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App Owners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34747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unclear ownership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384048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accountability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59" y="301752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62287" y="3127248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Procurement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7" y="34747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renewal surprises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7" y="384048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foresight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0" y="4480560"/>
            <a:ext cx="2194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8848" y="4590288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Compliance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4937760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weak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8848" y="5303520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audit trail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0840" y="4480560"/>
            <a:ext cx="2194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0568" y="4590288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Internal 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4937760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reconstruction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5303520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retrieval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59" y="4480560"/>
            <a:ext cx="2194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62287" y="4590288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Executive Mgmt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7" y="4937760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fragmented packs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62287" y="5303520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trusted decisions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Security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Control by design — the platform is itself governed.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45920"/>
            <a:ext cx="73152" cy="118872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470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RBAC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Role-based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459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645920"/>
            <a:ext cx="73152" cy="118872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8470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2860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Single sign-on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73152" cy="1188720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470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Federation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Identity federation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0175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3017520"/>
            <a:ext cx="73152" cy="1188720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2186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Role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576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Directory → platform roles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0175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3017520"/>
            <a:ext cx="73152" cy="1188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2186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Audit 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6576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Evidence on demand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0175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017520"/>
            <a:ext cx="73152" cy="118872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2186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Activity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6576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Sensitive change trail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3891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0" y="4389120"/>
            <a:ext cx="73152" cy="118872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5902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Least Privilege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0292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Need-to-know access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43891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17720" y="4389120"/>
            <a:ext cx="73152" cy="118872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45902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Auth Modes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50292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Local + federated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3891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4389120"/>
            <a:ext cx="73152" cy="1188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5902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Approval-Ready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0292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Workflow-capable design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Outcomes measured in time, risk, cost, and decision quality.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00200"/>
            <a:ext cx="5029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00200"/>
            <a:ext cx="73152" cy="50292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2841"/>
                </a:solidFill>
                <a:latin typeface="Aptos"/>
              </a:rPr>
              <a:t>Reduced Manual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194560"/>
            <a:ext cx="5029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194560"/>
            <a:ext cx="73152" cy="50292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2841"/>
                </a:solidFill>
                <a:latin typeface="Aptos"/>
              </a:rPr>
              <a:t>Better 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788920"/>
            <a:ext cx="5029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2788920"/>
            <a:ext cx="73152" cy="50292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880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2841"/>
                </a:solidFill>
                <a:latin typeface="Aptos"/>
              </a:rPr>
              <a:t>Improved Visibility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383280"/>
            <a:ext cx="5029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383280"/>
            <a:ext cx="73152" cy="5029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2841"/>
                </a:solidFill>
                <a:latin typeface="Aptos"/>
              </a:rPr>
              <a:t>Lower Operational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977639"/>
            <a:ext cx="5029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3977639"/>
            <a:ext cx="73152" cy="502920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0690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2841"/>
                </a:solidFill>
                <a:latin typeface="Aptos"/>
              </a:rPr>
              <a:t>Faster Audits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572000"/>
            <a:ext cx="5029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572000"/>
            <a:ext cx="73152" cy="5029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2841"/>
                </a:solidFill>
                <a:latin typeface="Aptos"/>
              </a:rPr>
              <a:t>License Cost Optimization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166360"/>
            <a:ext cx="5029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5166360"/>
            <a:ext cx="73152" cy="502920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2841"/>
                </a:solidFill>
                <a:latin typeface="Aptos"/>
              </a:rPr>
              <a:t>Better Decision Making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5544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6B7A"/>
                </a:solidFill>
                <a:latin typeface="Aptos"/>
              </a:rPr>
              <a:t>Applications by Department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400800" y="1828800"/>
          <a:ext cx="493776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492240" y="3931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6B7A"/>
                </a:solidFill>
                <a:latin typeface="Aptos"/>
              </a:rPr>
              <a:t>Application Growth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400800" y="4160520"/>
          <a:ext cx="4937760" cy="1737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Control first — then automation, integration, and AI.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2331720"/>
            <a:ext cx="9784080" cy="45720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90472" y="2212848"/>
            <a:ext cx="274320" cy="274320"/>
          </a:xfrm>
          <a:prstGeom prst="ellipse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69748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0720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96B24"/>
                </a:solidFill>
                <a:latin typeface="Aptos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96B24"/>
                </a:solidFill>
                <a:latin typeface="Aptos"/>
              </a:rPr>
              <a:t>Done</a:t>
            </a:r>
          </a:p>
        </p:txBody>
      </p:sp>
      <p:sp>
        <p:nvSpPr>
          <p:cNvPr id="11" name="Oval 10"/>
          <p:cNvSpPr/>
          <p:nvPr/>
        </p:nvSpPr>
        <p:spPr>
          <a:xfrm>
            <a:off x="2660904" y="2212848"/>
            <a:ext cx="274320" cy="274320"/>
          </a:xfrm>
          <a:prstGeom prst="ellipse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13432" y="434340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9152" y="44531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96B24"/>
                </a:solidFill>
                <a:latin typeface="Aptos"/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47548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Licenses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53492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96B24"/>
                </a:solidFill>
                <a:latin typeface="Aptos"/>
              </a:rPr>
              <a:t>Done</a:t>
            </a:r>
          </a:p>
        </p:txBody>
      </p:sp>
      <p:sp>
        <p:nvSpPr>
          <p:cNvPr id="16" name="Oval 15"/>
          <p:cNvSpPr/>
          <p:nvPr/>
        </p:nvSpPr>
        <p:spPr>
          <a:xfrm>
            <a:off x="3831336" y="2212848"/>
            <a:ext cx="274320" cy="274320"/>
          </a:xfrm>
          <a:prstGeom prst="ellipse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83864" y="269748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280720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96B24"/>
                </a:solidFill>
                <a:latin typeface="Aptos"/>
              </a:rPr>
              <a:t>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31089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9584" y="37033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96B24"/>
                </a:solidFill>
                <a:latin typeface="Aptos"/>
              </a:rPr>
              <a:t>Done</a:t>
            </a:r>
          </a:p>
        </p:txBody>
      </p:sp>
      <p:sp>
        <p:nvSpPr>
          <p:cNvPr id="21" name="Oval 20"/>
          <p:cNvSpPr/>
          <p:nvPr/>
        </p:nvSpPr>
        <p:spPr>
          <a:xfrm>
            <a:off x="5001768" y="2212848"/>
            <a:ext cx="274320" cy="274320"/>
          </a:xfrm>
          <a:prstGeom prst="ellipse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54296" y="434340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0016" y="44531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9ED5"/>
                </a:solidFill>
                <a:latin typeface="Aptos"/>
              </a:rPr>
              <a:t>P4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47548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Workflows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53492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B7A"/>
                </a:solidFill>
                <a:latin typeface="Aptos"/>
              </a:rPr>
              <a:t>Future</a:t>
            </a:r>
          </a:p>
        </p:txBody>
      </p:sp>
      <p:sp>
        <p:nvSpPr>
          <p:cNvPr id="26" name="Oval 25"/>
          <p:cNvSpPr/>
          <p:nvPr/>
        </p:nvSpPr>
        <p:spPr>
          <a:xfrm>
            <a:off x="6172200" y="2212848"/>
            <a:ext cx="274320" cy="274320"/>
          </a:xfrm>
          <a:prstGeom prst="ellipse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824728" y="269748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0448" y="280720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9ED5"/>
                </a:solidFill>
                <a:latin typeface="Aptos"/>
              </a:rPr>
              <a:t>P5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31089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CMDB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0448" y="37033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B7A"/>
                </a:solidFill>
                <a:latin typeface="Aptos"/>
              </a:rPr>
              <a:t>Future</a:t>
            </a:r>
          </a:p>
        </p:txBody>
      </p:sp>
      <p:sp>
        <p:nvSpPr>
          <p:cNvPr id="31" name="Oval 30"/>
          <p:cNvSpPr/>
          <p:nvPr/>
        </p:nvSpPr>
        <p:spPr>
          <a:xfrm>
            <a:off x="7342632" y="2212848"/>
            <a:ext cx="274320" cy="274320"/>
          </a:xfrm>
          <a:prstGeom prst="ellipse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95160" y="434340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44531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9ED5"/>
                </a:solidFill>
                <a:latin typeface="Aptos"/>
              </a:rPr>
              <a:t>P6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7548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ServiceNow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3492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B7A"/>
                </a:solidFill>
                <a:latin typeface="Aptos"/>
              </a:rPr>
              <a:t>Future</a:t>
            </a:r>
          </a:p>
        </p:txBody>
      </p:sp>
      <p:sp>
        <p:nvSpPr>
          <p:cNvPr id="36" name="Oval 35"/>
          <p:cNvSpPr/>
          <p:nvPr/>
        </p:nvSpPr>
        <p:spPr>
          <a:xfrm>
            <a:off x="8513064" y="2212848"/>
            <a:ext cx="274320" cy="274320"/>
          </a:xfrm>
          <a:prstGeom prst="ellipse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65592" y="269748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280720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02B93"/>
                </a:solidFill>
                <a:latin typeface="Aptos"/>
              </a:rPr>
              <a:t>P7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31089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AI Insights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37033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B7A"/>
                </a:solidFill>
                <a:latin typeface="Aptos"/>
              </a:rPr>
              <a:t>Future</a:t>
            </a:r>
          </a:p>
        </p:txBody>
      </p:sp>
      <p:sp>
        <p:nvSpPr>
          <p:cNvPr id="41" name="Oval 40"/>
          <p:cNvSpPr/>
          <p:nvPr/>
        </p:nvSpPr>
        <p:spPr>
          <a:xfrm>
            <a:off x="9683496" y="2212848"/>
            <a:ext cx="274320" cy="274320"/>
          </a:xfrm>
          <a:prstGeom prst="ellipse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36024" y="434340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81744" y="44531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02B93"/>
                </a:solidFill>
                <a:latin typeface="Aptos"/>
              </a:rPr>
              <a:t>P8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81744" y="47548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Predictive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81744" y="53492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B7A"/>
                </a:solidFill>
                <a:latin typeface="Aptos"/>
              </a:rPr>
              <a:t>Future</a:t>
            </a:r>
          </a:p>
        </p:txBody>
      </p:sp>
      <p:sp>
        <p:nvSpPr>
          <p:cNvPr id="46" name="Oval 45"/>
          <p:cNvSpPr/>
          <p:nvPr/>
        </p:nvSpPr>
        <p:spPr>
          <a:xfrm>
            <a:off x="10853928" y="2212848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506456" y="269748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52176" y="280720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97132"/>
                </a:solidFill>
                <a:latin typeface="Aptos"/>
              </a:rPr>
              <a:t>P9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52176" y="31089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Mobile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2176" y="37033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B7A"/>
                </a:solidFill>
                <a:latin typeface="Aptos"/>
              </a:rPr>
              <a:t>Future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4640" y="3063240"/>
            <a:ext cx="74980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To become the single trusted platform for managing
the complete IT ecosystem across the organization.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233172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4A0A4"/>
                </a:solidFill>
                <a:latin typeface="Aptos"/>
              </a:rPr>
              <a:t>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461772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People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461772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Processes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461772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9" y="461772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461772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Automation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61772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19" y="461772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0" y="461772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Compliance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See → Own → Control → Govern →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39" y="1920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39" y="2286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 Display"/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69164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920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286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  <a:latin typeface="Aptos Display"/>
              </a:rPr>
              <a:t>Applications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69164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920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286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  <a:latin typeface="Aptos Display"/>
              </a:rPr>
              <a:t>Licenses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69164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920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286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  <a:latin typeface="Aptos Display"/>
              </a:rPr>
              <a:t>Departments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59" y="169164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19" y="1920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19" y="2286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  <a:latin typeface="Aptos Display"/>
              </a:rPr>
              <a:t>Users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48839" y="324612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5999" y="34747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5999" y="38404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  <a:latin typeface="Aptos Display"/>
              </a:rPr>
              <a:t>Roles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59" y="324612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4747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8404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  <a:latin typeface="Aptos Display"/>
              </a:rPr>
              <a:t>Identity Providers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79" y="324612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4747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8404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  <a:latin typeface="Aptos Display"/>
              </a:rPr>
              <a:t>Audit Logs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324612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34747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8404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  <a:latin typeface="Aptos Display"/>
              </a:rPr>
              <a:t>Reports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800600"/>
            <a:ext cx="7040880" cy="10515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B6B7A"/>
                </a:solidFill>
                <a:latin typeface="Aptos"/>
              </a:rPr>
              <a:t>12–15 min  ·  One executive question mid-demo  ·  End on Dashboard / Reports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0" y="237744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0A4"/>
                </a:solidFill>
                <a:latin typeface="Aptos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2697480"/>
            <a:ext cx="146304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0" y="28803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379476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9ED5"/>
                </a:solidFill>
                <a:latin typeface="Aptos"/>
              </a:rPr>
              <a:t>CENTRIX  ·  Enterprise IT Portfolio &amp; Access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47548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ABA"/>
                </a:solidFill>
                <a:latin typeface="Aptos"/>
              </a:rPr>
              <a:t>We welcome your guidance, sponsorship, and questions.</a:t>
            </a:r>
          </a:p>
        </p:txBody>
      </p:sp>
    </p:spTree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TUSGUID" val="e17f6f0b-7fd8-4142-9ebe-b3d8a11c9ca0"/>
  <p:tag name="CLASSIFICATIONSCHEMA" val="Publ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itus xmlns="http://schemas.titus.com/TitusProperties/">
  <TitusGUID xmlns="">e17f6f0b-7fd8-4142-9ebe-b3d8a11c9ca0</TitusGUID>
  <TitusMetadata xmlns="">eyJucyI6IlpBVENBIiwicHJvcHMiOlt7Im4iOiJDbGFzc2lmaWNhdGlvblNjaGVtYSIsInZhbHMiOlt7InZhbHVlIjoiUHVibGljIn1dfV19</TitusMetadata>
</titus>
</file>

<file path=customXml/item2.xml><?xml version="1.0" encoding="utf-8"?>
<sisl xmlns:xsd="http://www.w3.org/2001/XMLSchema" xmlns:xsi="http://www.w3.org/2001/XMLSchema-instance" xmlns="http://www.boldonjames.com/2008/01/sie/internal/label" sislVersion="0" policy="b971009d-5b54-40b1-8df3-c6018c02f97a" origin="userSelected">
  <element uid="bcb9b9ad-90b8-4937-a625-ce8b1b2368c9" value=""/>
</sisl>
</file>

<file path=customXml/itemProps1.xml><?xml version="1.0" encoding="utf-8"?>
<ds:datastoreItem xmlns:ds="http://schemas.openxmlformats.org/officeDocument/2006/customXml" ds:itemID="{5DEA7424-18B6-457D-972E-9BB6DB0954E0}">
  <ds:schemaRefs>
    <ds:schemaRef ds:uri="http://schemas.titus.com/TitusProperties/"/>
    <ds:schemaRef ds:uri=""/>
  </ds:schemaRefs>
</ds:datastoreItem>
</file>

<file path=customXml/itemProps2.xml><?xml version="1.0" encoding="utf-8"?>
<ds:datastoreItem xmlns:ds="http://schemas.openxmlformats.org/officeDocument/2006/customXml" ds:itemID="{2EC8C406-5416-4998-B833-C844FEC6D1A1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16596</TotalTime>
  <Words>34</Words>
  <Application>Microsoft Office PowerPoint</Application>
  <PresentationFormat>Widescreen</PresentationFormat>
  <Paragraphs>14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Aptos</vt:lpstr>
      <vt:lpstr>Aptos Display</vt:lpstr>
      <vt:lpstr>Arial</vt:lpstr>
      <vt:lpstr>Microsoft Sans Serif</vt:lpstr>
      <vt:lpstr>Segoe UI</vt:lpstr>
      <vt:lpstr>Somar</vt:lpstr>
      <vt:lpstr>Somar Bold</vt:lpstr>
      <vt:lpstr>Somar Medium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Mashael M. Alshlash</dc:creator>
  <cp:lastModifiedBy>Ahmed R. Alzahrani</cp:lastModifiedBy>
  <cp:revision>117</cp:revision>
  <dcterms:created xsi:type="dcterms:W3CDTF">2025-10-09T06:57:36Z</dcterms:created>
  <dcterms:modified xsi:type="dcterms:W3CDTF">2026-01-20T12:48:49Z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bccbd4b1-47e1-42c8-a93b-d753df185599</vt:lpwstr>
  </property>
  <property fmtid="{D5CDD505-2E9C-101B-9397-08002B2CF9AE}" pid="3" name="bjClsUserRVM">
    <vt:lpwstr>[]</vt:lpwstr>
  </property>
  <property fmtid="{D5CDD505-2E9C-101B-9397-08002B2CF9AE}" pid="4" name="bjSaver">
    <vt:lpwstr>EhgVdfOV9kDWvu/FwyrCySxll4shKvj+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policy="b971009d-5b54-40b1-8df3-c6018c02f97a" origin="userSelected" xmlns="http://www.boldonj</vt:lpwstr>
  </property>
  <property fmtid="{D5CDD505-2E9C-101B-9397-08002B2CF9AE}" pid="6" name="bjDocumentLabelXML-0">
    <vt:lpwstr>ames.com/2008/01/sie/internal/label"&gt;&lt;element uid="bcb9b9ad-90b8-4937-a625-ce8b1b2368c9" value="" /&gt;&lt;/sisl&gt;</vt:lpwstr>
  </property>
  <property fmtid="{D5CDD505-2E9C-101B-9397-08002B2CF9AE}" pid="7" name="bjDocumentSecurityLabel">
    <vt:lpwstr>Public | عام </vt:lpwstr>
  </property>
  <property fmtid="{D5CDD505-2E9C-101B-9397-08002B2CF9AE}" pid="8" name="bjSlideMasterFooterText">
    <vt:lpwstr>Public | عام</vt:lpwstr>
  </property>
  <property fmtid="{D5CDD505-2E9C-101B-9397-08002B2CF9AE}" pid="9" name="bjpmDocIH">
    <vt:lpwstr>Y8y70RcSegQwQMt6kihZRS6wTWjHqdQS</vt:lpwstr>
  </property>
  <property fmtid="{D5CDD505-2E9C-101B-9397-08002B2CF9AE}" pid="10" name="TitusGUID">
    <vt:lpwstr>e17f6f0b-7fd8-4142-9ebe-b3d8a11c9ca0</vt:lpwstr>
  </property>
  <property fmtid="{D5CDD505-2E9C-101B-9397-08002B2CF9AE}" pid="11" name="ClassificationSchema">
    <vt:lpwstr>Public</vt:lpwstr>
  </property>
</Properties>
</file>
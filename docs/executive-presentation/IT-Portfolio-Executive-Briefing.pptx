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License Status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Expiring Soon</c:v>
                </c:pt>
                <c:pt idx="2">
                  <c:v>Expired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0.17</c:v>
                </c:pt>
                <c:pt idx="2">
                  <c:v>0.0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Apps by Department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Sheet1!$A$2:$A$4</c:f>
              <c:strCache>
                <c:ptCount val="3"/>
                <c:pt idx="0">
                  <c:v>General IT</c:v>
                </c:pt>
                <c:pt idx="1">
                  <c:v>Customs</c:v>
                </c:pt>
                <c:pt idx="2">
                  <c:v>Tax &amp; Zakat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License Environment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Production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39</c:v>
                </c:pt>
                <c:pt idx="2">
                  <c:v>48</c:v>
                </c:pt>
                <c:pt idx="3">
                  <c:v>58</c:v>
                </c:pt>
                <c:pt idx="4">
                  <c:v>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Licensed seats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Prod</c:v>
                </c:pt>
                <c:pt idx="1">
                  <c:v>Non-Prod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15241</c:v>
                </c:pt>
                <c:pt idx="1">
                  <c:v>15241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Used seats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Prod</c:v>
                </c:pt>
                <c:pt idx="1">
                  <c:v>Non-Prod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12248</c:v>
                </c:pt>
                <c:pt idx="1">
                  <c:v>12249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as a governance and risk conversation — not a software demo. Promise a clear arc: current state → risk → solution → value → roadmap →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agenda under 45 seconds. Emphasize this is a strategic initiative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thesis once. Do not list features. Connect to audit season and renewal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rhetorically: can we produce an authoritative list of production apps, owners, and licenses expiring this quarter in under one hour?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sober — no scare tactics. One real internal anecdote is enough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product once, then stay on outcomes: system of record + system of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3–4 capabilities aloud. Translate live: license management = stop paying for shelfware.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two benefits that resonate (often audit speed + license waste).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security stakeholders. Avoid protocol deep-dives unless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live portfolio indicators. Invite the room to pick one question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 the demo: ask which question they want answered first on the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over-promise dates. Emphasize sequenced risk reduction before sophistication.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 a 90-day value baseline with finance: reporting hours, urgent renewals, shelfware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visual proof before or during demo. Stay on business narrative — do not click through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SSO and audit for security/risk stakeholders; roles for IT directors.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flow in one breath before switching to the live system. Capture questions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the ask. Offer a one-page decision memo as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leave-behind for presenters. Elevator pitch: single trusted view of apps, licenses, ownership, and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EXECUTIVE BRIEFING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IT Portfolio &amp; Access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Enterprise governance for applications, licenses,
identity, and executive decision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8"/>
                </a:solidFill>
                <a:latin typeface="Calibri"/>
              </a:rPr>
              <a:t>Audience: CIO  ·  IT Directors  ·  Department Managers  ·  Executive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Strategic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 decision journey — not a feature tour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284C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Why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Challenges &amp; business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284C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What we propose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Enterprise IT Governance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284C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How value is created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Capabilities, security,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284C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What comes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Roadmap, ROI, live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Agenda  |  IT Portfolio &amp; Access Management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01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We cannot govern what we cannot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Manual portfolio management does not scale</a:t>
            </a:r>
          </a:p>
        </p:txBody>
      </p:sp>
      <p:sp>
        <p:nvSpPr>
          <p:cNvPr id="6" name="Chevron 5"/>
          <p:cNvSpPr/>
          <p:nvPr/>
        </p:nvSpPr>
        <p:spPr>
          <a:xfrm>
            <a:off x="457200" y="2011680"/>
            <a:ext cx="2148840" cy="1234440"/>
          </a:xfrm>
          <a:prstGeom prst="chevron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Scattered
records</a:t>
            </a:r>
          </a:p>
        </p:txBody>
      </p:sp>
      <p:sp>
        <p:nvSpPr>
          <p:cNvPr id="7" name="Chevron 6"/>
          <p:cNvSpPr/>
          <p:nvPr/>
        </p:nvSpPr>
        <p:spPr>
          <a:xfrm>
            <a:off x="2743200" y="2011680"/>
            <a:ext cx="2148840" cy="123444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Blind
spots</a:t>
            </a:r>
          </a:p>
        </p:txBody>
      </p:sp>
      <p:sp>
        <p:nvSpPr>
          <p:cNvPr id="8" name="Chevron 7"/>
          <p:cNvSpPr/>
          <p:nvPr/>
        </p:nvSpPr>
        <p:spPr>
          <a:xfrm>
            <a:off x="5029200" y="2011680"/>
            <a:ext cx="2148840" cy="1234440"/>
          </a:xfrm>
          <a:prstGeom prst="chevron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Risk &amp;
cost</a:t>
            </a:r>
          </a:p>
        </p:txBody>
      </p:sp>
      <p:sp>
        <p:nvSpPr>
          <p:cNvPr id="9" name="Chevron 8"/>
          <p:cNvSpPr/>
          <p:nvPr/>
        </p:nvSpPr>
        <p:spPr>
          <a:xfrm>
            <a:off x="7315200" y="2011680"/>
            <a:ext cx="2148840" cy="1234440"/>
          </a:xfrm>
          <a:prstGeom prst="chevron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Governed
platform</a:t>
            </a:r>
          </a:p>
        </p:txBody>
      </p:sp>
      <p:sp>
        <p:nvSpPr>
          <p:cNvPr id="10" name="Chevron 9"/>
          <p:cNvSpPr/>
          <p:nvPr/>
        </p:nvSpPr>
        <p:spPr>
          <a:xfrm>
            <a:off x="9601200" y="2011680"/>
            <a:ext cx="2148840" cy="1234440"/>
          </a:xfrm>
          <a:prstGeom prst="chevron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Executive
clarity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Fragmented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Apps, licenses, and owners live in spreadsheets and inboxes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Rising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389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Expiry, access drift, and audit friction go unnoticed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657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Limited foresight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3891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Leaders lack a trusted view for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01 Executive Summary  |  IT Portfolio &amp; Access Management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02  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Today’s operating model creates avoidable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The issue is not effort — it is the absence of a system of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Scattered spreadsheets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Unknown owners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No single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Shadow / duplicate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657600" cy="5486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Licenses &amp; Vendors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Expiry surprises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Weak utilization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Environment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Unclear vendor criticality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645920"/>
            <a:ext cx="3657600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688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Inconsistent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Thin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7490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Slow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●  Knowledge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02 Current Challenges  |  IT Portfolio &amp; Access Management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03 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What inaction costs the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Fragmentation is a risk, cost, and accountability 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1097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91C1C"/>
                </a:solidFill>
                <a:latin typeface="Calibri"/>
              </a:rPr>
              <a:t>↑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Unowned systems &amp;
unclear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743200" cy="1097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45309"/>
                </a:solidFill>
                <a:latin typeface="Calibri"/>
              </a:rPr>
              <a:t>↑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Shelfware &amp;
late renewals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109728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4A6E"/>
                </a:solidFill>
                <a:latin typeface="Calibri"/>
              </a:rPr>
              <a:t>↓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Manual reporting
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73736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737360"/>
            <a:ext cx="2743200" cy="10972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B1F33"/>
                </a:solidFill>
                <a:latin typeface="Calibri"/>
              </a:rPr>
              <a:t>↓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8346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Conflicting sources
of truth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Operational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43891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Compliance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891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Poor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3891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Duplicate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03 Business Impact  |  IT Portfolio &amp; Access Management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04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An Enterprise IT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From fragmented records → governed enterprise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743200"/>
            <a:ext cx="3749039" cy="164592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IT Portfolio &amp;
Access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Application
Portfolio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73736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License
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Identity &amp;
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457200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Executive
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04 Proposed Solution  |  IT Portfolio &amp; Access Management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05 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Nine capabilities that turn governance into daily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Every capability maps to a business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Centralized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Digital asset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License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Cost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Vendor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Third-party clarity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Department 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Accountability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1546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Environment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Operational awareness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15468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Users &amp;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Access governance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Identity / 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Enterprise authentication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892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Audit Logging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Compliance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70916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892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Executive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Decision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05 Capabilities  |  IT Portfolio &amp; Access Management  ·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06  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Outcomes leadership should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Value appears when the platform becomes the trusted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201168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Better
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011680"/>
            <a:ext cx="822960" cy="8229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Single source
of 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011680"/>
            <a:ext cx="822960" cy="82296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Lower
ops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73736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2011680"/>
            <a:ext cx="822960" cy="82296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Faster
audits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17320" y="4206240"/>
            <a:ext cx="822960" cy="82296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Less software
waste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93192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7680" y="4206240"/>
            <a:ext cx="822960" cy="82296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Stronger
compliance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78040" y="4206240"/>
            <a:ext cx="822960" cy="82296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Executive
visibility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931920"/>
            <a:ext cx="2743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0" y="42062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5120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Clear
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06 Benefits  |  IT Portfolio &amp; Access Management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07  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Control by design — not by heroics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The portfolio platform must itself be governed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91640" y="2011680"/>
            <a:ext cx="1371600" cy="5029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Role-based
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40680" y="2011680"/>
            <a:ext cx="1371600" cy="5029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Enterprise
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73736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19" y="2011680"/>
            <a:ext cx="1371600" cy="5029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Role
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91640" y="4206240"/>
            <a:ext cx="1371600" cy="5029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Audit
logging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40680" y="4206240"/>
            <a:ext cx="1371600" cy="5029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Activity
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9319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4206240"/>
            <a:ext cx="1371600" cy="5029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Least
privilege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07 Security &amp; Governance  |  IT Portfolio &amp; Access Management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08 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Decision-ready portfolio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Leadership questions answered without assembling a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73152" cy="11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1417320"/>
            <a:ext cx="73152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Licenses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1417320"/>
            <a:ext cx="731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Active Vendors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94960" y="1417320"/>
            <a:ext cx="73152" cy="1143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Departments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86600" y="1417320"/>
            <a:ext cx="73152" cy="11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1417320"/>
            <a:ext cx="73152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SSO Providers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141732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69880" y="1417320"/>
            <a:ext cx="73152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1645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120+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2194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Audit Events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65760" y="2788920"/>
          <a:ext cx="3657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06240" y="2788920"/>
          <a:ext cx="384048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8229600" y="2788920"/>
          <a:ext cx="356616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572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License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Applications by Department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Licenses by Environment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08 Executive Dashboard  |  IT Portfolio &amp; Access Management  ·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09  ANALYTICS &amp;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From data hunting to decision-ready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If a question needs three spreadsheets, it is already too 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License Utilization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F766E"/>
                </a:solidFill>
                <a:latin typeface="Calibri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seats used vs licensed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2336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Licensed:  30,482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2628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Used:  24,497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1F33"/>
                </a:solidFill>
                <a:latin typeface="Calibri"/>
              </a:rPr>
              <a:t>Available:  6,647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389120" y="1645920"/>
          <a:ext cx="3657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Application Growth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229600" y="1645920"/>
          <a:ext cx="35661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Seats by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09 Analytics  |  IT Portfolio &amp; Access Management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10 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 platform designed to grow with enterprise ambition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Start with control and truth — then add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106984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063240"/>
            <a:ext cx="411480" cy="41148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1F33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Portfolio
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Inventory, owners,
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Portfolio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4617719" y="3063240"/>
            <a:ext cx="411480" cy="411480"/>
          </a:xfrm>
          <a:prstGeom prst="ellipse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39" y="3749039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19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4A6E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19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License
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19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Utilization, renewals,
environments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License Governance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0" y="3063240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49039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Identity
&amp; SSO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Federation, role mapping,
least privilege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Identity &amp; SSO</a:t>
            </a:r>
          </a:p>
        </p:txBody>
      </p:sp>
      <p:sp>
        <p:nvSpPr>
          <p:cNvPr id="25" name="Oval 24"/>
          <p:cNvSpPr/>
          <p:nvPr/>
        </p:nvSpPr>
        <p:spPr>
          <a:xfrm>
            <a:off x="10378439" y="306324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81159" y="3749039"/>
            <a:ext cx="27432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39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Automation
&amp;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Alerts, workflows,
predictive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Automation &amp;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10 Roadmap  |  IT Portfolio &amp; Access Management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11  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Where value appears in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The cheapest control failure is the one prevented by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057400"/>
            <a:ext cx="868680" cy="8686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Reduced Manual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Hours saved on audits,
renewals, leadership packs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73736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79" y="2057400"/>
            <a:ext cx="868680" cy="8686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219456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Better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40233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Evidence on demand —
not reconstruction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73736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15000" y="2057400"/>
            <a:ext cx="868680" cy="8686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19456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Improved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0233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One trusted view for
CIO and directors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173736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9" y="2057400"/>
            <a:ext cx="868680" cy="86868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219456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Lower Ops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0233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Fewer surprises from
expiry &amp; access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737360"/>
            <a:ext cx="2240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78440" y="2057400"/>
            <a:ext cx="868680" cy="86868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219456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2004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Faster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02336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Minutes instead of
multi-day collation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11 ROI  |  IT Portfolio &amp; Access Management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12  PLATFORM PROOF —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Governance made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The system of record leaders can trust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557784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20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Executive Dashboard</a:t>
            </a:r>
          </a:p>
        </p:txBody>
      </p:sp>
      <p:pic>
        <p:nvPicPr>
          <p:cNvPr id="8" name="Picture 7" descr="appl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57784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3520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Applications Management</a:t>
            </a:r>
          </a:p>
        </p:txBody>
      </p:sp>
      <p:pic>
        <p:nvPicPr>
          <p:cNvPr id="10" name="Picture 9" descr="lice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5577840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943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License Management</a:t>
            </a:r>
          </a:p>
        </p:txBody>
      </p:sp>
      <p:pic>
        <p:nvPicPr>
          <p:cNvPr id="12" name="Picture 11" descr="vend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31920"/>
            <a:ext cx="557784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5943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Vendors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12 Platform Proof  |  IT Portfolio &amp; Access Management  ·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13  PLATFORM PROOF —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Identity, access, and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Control and evidence are built in</a:t>
            </a:r>
          </a:p>
        </p:txBody>
      </p:sp>
      <p:pic>
        <p:nvPicPr>
          <p:cNvPr id="6" name="Picture 5" descr="de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3749039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474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Departments</a:t>
            </a:r>
          </a:p>
        </p:txBody>
      </p:sp>
      <p:pic>
        <p:nvPicPr>
          <p:cNvPr id="8" name="Picture 7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08760"/>
            <a:ext cx="3749039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3474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Users</a:t>
            </a:r>
          </a:p>
        </p:txBody>
      </p:sp>
      <p:pic>
        <p:nvPicPr>
          <p:cNvPr id="10" name="Picture 9" descr="ro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08760"/>
            <a:ext cx="3749039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3474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Roles &amp; Permissions</a:t>
            </a:r>
          </a:p>
        </p:txBody>
      </p:sp>
      <p:pic>
        <p:nvPicPr>
          <p:cNvPr id="12" name="Picture 11" descr="s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31920"/>
            <a:ext cx="3749039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5897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Identity Providers (SSO)</a:t>
            </a:r>
          </a:p>
        </p:txBody>
      </p:sp>
      <p:pic>
        <p:nvPicPr>
          <p:cNvPr id="14" name="Picture 13" descr="au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931920"/>
            <a:ext cx="3749039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0" y="5897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Audit Logs</a:t>
            </a:r>
          </a:p>
        </p:txBody>
      </p:sp>
      <p:pic>
        <p:nvPicPr>
          <p:cNvPr id="16" name="Picture 15" descr="s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931920"/>
            <a:ext cx="3749039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0" y="5897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Settings / Reports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13 Platform Proof  |  IT Portfolio &amp; Access Management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14 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 business story told through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Demo to decide — not to explore every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92024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Licenses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92024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Vendors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92024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Departments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56616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Roles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56616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SSO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56616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Audit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356616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Insights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2120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Facilitation: See → Own → Control → Govern → Prove  |  Keep demo to 12–15 minutes  |  End on the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14 Live Demo  |  IT Portfolio &amp; Access Management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15  DECISION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Convert alignment into sponsorship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Governance improves when leadership chooses — and uses — one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148840"/>
            <a:ext cx="914400" cy="914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Endorse 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Confirm as the enterprise system of record for applications &amp; licenses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0" y="2148840"/>
            <a:ext cx="914400" cy="914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Name accountable 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Business + IT owners for data quality, access, and license stewardship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2148840"/>
            <a:ext cx="914400" cy="914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Approve a 90-day value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86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Baseline reporting effort, renewals at risk, and utilization — then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15 Decision  |  IT Portfolio &amp; Access Management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How we speak about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Key message: Language determines whether this is seen as admin software — or enterprise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CRUD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Centralized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Users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Identity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06039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80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803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8035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Access Governance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06039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SSO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803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035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Enterprise Authentication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Activity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Compliance &amp; Audit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65760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Executive Decision 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59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834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License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983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9834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Cost Optimization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709159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9834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Application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983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98347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Digital Asset 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Appendix  |  IT Portfolio &amp; Access Management  ·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